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54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297093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</a:t>
            </a:r>
            <a:r>
              <a:rPr lang="en-IN" sz="1200" dirty="0"/>
              <a:t>Team Shield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3826746"/>
            <a:ext cx="8533394" cy="76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IN" sz="1200" dirty="0"/>
              <a:t>Manually loading local transaction logs into cloud environments creates severe compliance liabilities, as plaintext customer PII (like emails and credit cards) is often accidentally exfiltrated before any server-side security or governance policies can intercept it.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250641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 </a:t>
            </a:r>
            <a:r>
              <a:rPr lang="en-IN" sz="1200" dirty="0"/>
              <a:t>Diganta Nayak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54704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1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lang="en-GB" sz="1700" b="1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GB" sz="1442" b="1" i="1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sz="1442" b="1" i="1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sz="1700" b="1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sz="1700" b="1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GB" sz="1700" b="1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sz="1700" b="1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 b="0" i="0" u="none" strike="noStrike" cap="non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FE740-29B0-D5B2-8186-9D1C2D9D1AF6}"/>
              </a:ext>
            </a:extLst>
          </p:cNvPr>
          <p:cNvSpPr txBox="1"/>
          <p:nvPr/>
        </p:nvSpPr>
        <p:spPr>
          <a:xfrm>
            <a:off x="381000" y="1384753"/>
            <a:ext cx="8416636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What real business problem does this solve?</a:t>
            </a:r>
            <a:r>
              <a:rPr lang="en-IN" sz="1400" b="0" u="none" strike="noStrike" dirty="0">
                <a:effectLst/>
                <a:latin typeface="Arial"/>
              </a:rPr>
              <a:t> It blocks systemic compliance leaks (GDPR, PCI-DSS) by stopping plaintext personal sensitive data from ever entering cloud data logs.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Who is the target user/persona?</a:t>
            </a:r>
            <a:r>
              <a:rPr lang="en-IN" sz="1400" b="0" u="none" strike="noStrike" dirty="0">
                <a:effectLst/>
                <a:latin typeface="Arial"/>
              </a:rPr>
              <a:t> Data Engineers, Security Operations Analysts, and Cloud Compliance Auditors.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What is the current pain point and how does this improve it?</a:t>
            </a:r>
            <a:r>
              <a:rPr lang="en-IN" sz="1400" b="0" u="none" strike="noStrike" dirty="0">
                <a:effectLst/>
                <a:latin typeface="Arial"/>
              </a:rPr>
              <a:t> Traditional setups require massive manual pipeline filtering or risky server-side processing; this solution shifts privacy rules directly to the edge command line.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Industry/domain context:</a:t>
            </a:r>
            <a:r>
              <a:rPr lang="en-IN" sz="1400" b="0" u="none" strike="noStrike" dirty="0">
                <a:effectLst/>
                <a:latin typeface="Arial"/>
              </a:rPr>
              <a:t> Crucial for banking, public sector, and healthcare sectors within the GCC region operating under strict data localized residency mandates.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294AC-0CE7-85F3-040F-27CA30E6750D}"/>
              </a:ext>
            </a:extLst>
          </p:cNvPr>
          <p:cNvSpPr txBox="1"/>
          <p:nvPr/>
        </p:nvSpPr>
        <p:spPr>
          <a:xfrm>
            <a:off x="221678" y="930229"/>
            <a:ext cx="464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Problem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EE64AA-4986-2761-3942-364AA5F1B1F4}"/>
              </a:ext>
            </a:extLst>
          </p:cNvPr>
          <p:cNvSpPr txBox="1"/>
          <p:nvPr/>
        </p:nvSpPr>
        <p:spPr>
          <a:xfrm>
            <a:off x="374073" y="1435617"/>
            <a:ext cx="8229600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Data Flow Pipeline:</a:t>
            </a:r>
            <a:br>
              <a:rPr lang="en-IN" sz="1400" b="0" u="none" strike="noStrike" dirty="0">
                <a:effectLst/>
                <a:latin typeface="Arial"/>
              </a:rPr>
            </a:br>
            <a:r>
              <a:rPr lang="en-IN" sz="1400" b="0" u="none" strike="noStrike" dirty="0">
                <a:effectLst/>
                <a:latin typeface="Arial"/>
              </a:rPr>
              <a:t>Local Financial CSV ➡️ snow-shield CLI (Local Masking Engine) ➡️ Sanitized Cached File ➡️ Snowflake Named Internal Stage ➡️ Target Compliance Table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 err="1">
                <a:effectLst/>
                <a:latin typeface="Arial"/>
              </a:rPr>
              <a:t>CoCo</a:t>
            </a:r>
            <a:r>
              <a:rPr lang="en-IN" sz="1400" b="1" u="none" strike="noStrike" dirty="0">
                <a:effectLst/>
                <a:latin typeface="Arial"/>
              </a:rPr>
              <a:t> CLI Skills &amp; Modular Layout:</a:t>
            </a:r>
            <a:endParaRPr lang="en-IN" sz="1400" b="0" u="none" strike="noStrike" dirty="0">
              <a:effectLst/>
              <a:latin typeface="Arial"/>
            </a:endParaRP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Input Parsing:</a:t>
            </a:r>
            <a:r>
              <a:rPr lang="en-IN" sz="1400" b="0" u="none" strike="noStrike" dirty="0">
                <a:effectLst/>
                <a:latin typeface="Arial"/>
              </a:rPr>
              <a:t> Python </a:t>
            </a:r>
            <a:r>
              <a:rPr lang="en-IN" sz="1400" b="0" u="none" strike="noStrike" dirty="0" err="1">
                <a:effectLst/>
                <a:latin typeface="Arial"/>
              </a:rPr>
              <a:t>argparse</a:t>
            </a:r>
            <a:r>
              <a:rPr lang="en-IN" sz="1400" b="0" u="none" strike="noStrike" dirty="0">
                <a:effectLst/>
                <a:latin typeface="Arial"/>
              </a:rPr>
              <a:t> tracks source and destination boundaries.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Vectorized Intelligence Check:</a:t>
            </a:r>
            <a:r>
              <a:rPr lang="en-IN" sz="1400" b="0" u="none" strike="noStrike" dirty="0">
                <a:effectLst/>
                <a:latin typeface="Arial"/>
              </a:rPr>
              <a:t> Pandas applies semantic regex algorithms on headers.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Secure Pipeline Channel:</a:t>
            </a:r>
            <a:r>
              <a:rPr lang="en-IN" sz="1400" b="0" u="none" strike="noStrike" dirty="0">
                <a:effectLst/>
                <a:latin typeface="Arial"/>
              </a:rPr>
              <a:t> Official snowflake-connector-python establishes isolated transactional query execution.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248CB-0DAD-9B82-4D59-8AC54EA3C6BD}"/>
              </a:ext>
            </a:extLst>
          </p:cNvPr>
          <p:cNvSpPr txBox="1"/>
          <p:nvPr/>
        </p:nvSpPr>
        <p:spPr>
          <a:xfrm>
            <a:off x="221678" y="930229"/>
            <a:ext cx="464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Architecture Diagram (Text Representation)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900" b="1" i="1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sz="600" b="0" i="1" u="none" strike="noStrike" cap="non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43068-18EB-0668-0651-6FA0B16BFAB9}"/>
              </a:ext>
            </a:extLst>
          </p:cNvPr>
          <p:cNvSpPr txBox="1"/>
          <p:nvPr/>
        </p:nvSpPr>
        <p:spPr>
          <a:xfrm>
            <a:off x="315899" y="1476989"/>
            <a:ext cx="851219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Measurable Outcomes:</a:t>
            </a:r>
            <a:r>
              <a:rPr lang="en-IN" sz="1400" b="0" u="none" strike="noStrike" dirty="0">
                <a:effectLst/>
                <a:latin typeface="Arial"/>
              </a:rPr>
              <a:t> Bypasses manual stage generation workflows, reducing setup and deployment friction from hours to a </a:t>
            </a:r>
            <a:r>
              <a:rPr lang="en-IN" sz="1400" b="1" u="none" strike="noStrike" dirty="0">
                <a:effectLst/>
                <a:latin typeface="Arial"/>
              </a:rPr>
              <a:t>one-line automated script command execution</a:t>
            </a:r>
            <a:r>
              <a:rPr lang="en-IN" sz="1400" b="0" u="none" strike="noStrike" dirty="0">
                <a:effectLst/>
                <a:latin typeface="Arial"/>
              </a:rPr>
              <a:t>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Data Security Guarantee:</a:t>
            </a:r>
            <a:r>
              <a:rPr lang="en-IN" sz="1400" b="0" u="none" strike="noStrike" dirty="0">
                <a:effectLst/>
                <a:latin typeface="Arial"/>
              </a:rPr>
              <a:t> Drops risk vectors to zero by completely purging temporary local memory caches and internal temporary stages immediately upon query completion.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b="1" u="none" strike="noStrike" dirty="0">
                <a:effectLst/>
                <a:latin typeface="Arial"/>
              </a:rPr>
              <a:t>Scalability Potential:</a:t>
            </a:r>
            <a:r>
              <a:rPr lang="en-IN" sz="1400" b="0" u="none" strike="noStrike" dirty="0">
                <a:effectLst/>
                <a:latin typeface="Arial"/>
              </a:rPr>
              <a:t> Features a fully modular setup that can scale horizontally to support unstructured files or parse streaming enterprise JSON payloads.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74DCF-01DD-5BA8-3D0D-4B9E79CF0CF2}"/>
              </a:ext>
            </a:extLst>
          </p:cNvPr>
          <p:cNvSpPr txBox="1"/>
          <p:nvPr/>
        </p:nvSpPr>
        <p:spPr>
          <a:xfrm>
            <a:off x="221678" y="930229"/>
            <a:ext cx="464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Impact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437</Words>
  <Application>Microsoft Office PowerPoint</Application>
  <PresentationFormat>On-screen Show (16:9)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Google Sans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Diganta Nayak</cp:lastModifiedBy>
  <cp:revision>4</cp:revision>
  <dcterms:modified xsi:type="dcterms:W3CDTF">2026-10-05T14:22:38Z</dcterms:modified>
</cp:coreProperties>
</file>